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6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7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zh-CN"/>
              <a:t>三结构域数据探究以及</a:t>
            </a:r>
            <a:r>
              <a:rPr lang="en-US" altLang="zh-CN"/>
              <a:t>2</a:t>
            </a:r>
            <a:r>
              <a:rPr lang="zh-CN" altLang="en-US"/>
              <a:t>种</a:t>
            </a:r>
            <a:r>
              <a:rPr lang="en-US" altLang="zh-CN"/>
              <a:t>Training-free</a:t>
            </a:r>
            <a:r>
              <a:rPr lang="zh-CN" altLang="en-US"/>
              <a:t>方法的</a:t>
            </a:r>
            <a:r>
              <a:rPr lang="en-US" altLang="zh-CN"/>
              <a:t>benchmark</a:t>
            </a:r>
            <a:r>
              <a:rPr lang="zh-CN" altLang="en-US"/>
              <a:t>建立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姚</a:t>
            </a:r>
            <a:r>
              <a:rPr lang="zh-CN" altLang="en-US"/>
              <a:t>昌铭</a:t>
            </a:r>
            <a:endParaRPr lang="zh-CN" altLang="en-US"/>
          </a:p>
          <a:p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20</a:t>
            </a:r>
            <a:r>
              <a:rPr lang="zh-CN" altLang="en-US"/>
              <a:t>日</a:t>
            </a:r>
            <a:r>
              <a:rPr lang="en-US" altLang="zh-CN"/>
              <a:t> </a:t>
            </a:r>
            <a:r>
              <a:rPr lang="zh-CN" altLang="en-US"/>
              <a:t>周二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三结构域数据集性质探究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7395" y="1142365"/>
            <a:ext cx="8156575" cy="3387090"/>
          </a:xfrm>
          <a:prstGeom prst="rect">
            <a:avLst/>
          </a:prstGeom>
        </p:spPr>
      </p:pic>
      <p:pic>
        <p:nvPicPr>
          <p:cNvPr id="5" name="图片 4" descr="Supplementary_Figure_S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963670"/>
            <a:ext cx="6586855" cy="2807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57005" y="1532255"/>
            <a:ext cx="2520950" cy="4603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三结构域数据集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zh-CN" altLang="en-US"/>
              <a:t>约</a:t>
            </a:r>
            <a:r>
              <a:rPr lang="en-US" altLang="zh-CN"/>
              <a:t>2300</a:t>
            </a:r>
            <a:r>
              <a:rPr lang="zh-CN" altLang="en-US"/>
              <a:t>万</a:t>
            </a:r>
            <a:r>
              <a:rPr lang="zh-CN" altLang="en-US"/>
              <a:t>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大于四结构域的蛋白质数量呈现长尾</a:t>
            </a:r>
            <a:r>
              <a:rPr lang="zh-CN" altLang="en-US"/>
              <a:t>分布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超过三结构域就不到千万量级</a:t>
            </a:r>
            <a:r>
              <a:rPr lang="en-US" altLang="zh-CN"/>
              <a:t>，</a:t>
            </a:r>
            <a:r>
              <a:rPr lang="zh-CN" altLang="en-US"/>
              <a:t>超过六结构域就不到百万</a:t>
            </a:r>
            <a:r>
              <a:rPr lang="zh-CN" altLang="en-US"/>
              <a:t>量级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无交错</a:t>
            </a:r>
            <a:r>
              <a:rPr lang="en-US" altLang="zh-CN"/>
              <a:t>：19.48%</a:t>
            </a:r>
            <a:endParaRPr lang="en-US" altLang="zh-CN"/>
          </a:p>
          <a:p>
            <a:r>
              <a:rPr lang="en-US" altLang="zh-CN"/>
              <a:t>（</a:t>
            </a:r>
            <a:r>
              <a:rPr lang="zh-CN" altLang="en-US"/>
              <a:t>仅内部断裂</a:t>
            </a:r>
            <a:r>
              <a:rPr lang="en-US" altLang="zh-CN"/>
              <a:t>）</a:t>
            </a:r>
            <a:endParaRPr lang="en-US" altLang="zh-CN"/>
          </a:p>
          <a:p>
            <a:r>
              <a:rPr lang="zh-CN" altLang="en-US"/>
              <a:t>存在交错</a:t>
            </a:r>
            <a:r>
              <a:rPr lang="en-US" altLang="zh-CN"/>
              <a:t>：27.38%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数据集性质探究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180"/>
            <a:ext cx="10968990" cy="5372100"/>
          </a:xfrm>
        </p:spPr>
        <p:txBody>
          <a:bodyPr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2320</a:t>
            </a:r>
            <a:r>
              <a:rPr lang="zh-CN" altLang="en-US"/>
              <a:t>万条三结构域数据中三个都有</a:t>
            </a:r>
            <a:r>
              <a:rPr lang="en-US" altLang="zh-CN"/>
              <a:t>CATH-H</a:t>
            </a:r>
            <a:r>
              <a:rPr lang="zh-CN" altLang="en-US"/>
              <a:t>注释的仅有约</a:t>
            </a:r>
            <a:r>
              <a:rPr lang="en-US" altLang="zh-CN"/>
              <a:t>913</a:t>
            </a:r>
            <a:r>
              <a:rPr lang="zh-CN" altLang="en-US"/>
              <a:t>万</a:t>
            </a:r>
            <a:r>
              <a:rPr lang="zh-CN" altLang="en-US"/>
              <a:t>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观察到</a:t>
            </a:r>
            <a:r>
              <a:rPr lang="en-US" altLang="zh-CN"/>
              <a:t>53381</a:t>
            </a:r>
            <a:r>
              <a:rPr lang="zh-CN" altLang="en-US"/>
              <a:t>种无序三元组组合</a:t>
            </a:r>
            <a:r>
              <a:rPr lang="en-US" altLang="zh-CN"/>
              <a:t>，49.82%</a:t>
            </a:r>
            <a:r>
              <a:rPr lang="zh-CN" altLang="en-US"/>
              <a:t>的三元组类型</a:t>
            </a:r>
            <a:r>
              <a:rPr lang="en-US" altLang="zh-CN"/>
              <a:t>（26594</a:t>
            </a:r>
            <a:r>
              <a:rPr lang="zh-CN" altLang="en-US"/>
              <a:t>种</a:t>
            </a:r>
            <a:r>
              <a:rPr lang="en-US" altLang="zh-CN"/>
              <a:t>）</a:t>
            </a:r>
            <a:r>
              <a:rPr lang="zh-CN" altLang="en-US"/>
              <a:t>仅仅出现过一次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Top1%534</a:t>
            </a:r>
            <a:r>
              <a:rPr lang="zh-CN" altLang="en-US"/>
              <a:t>种的三元组组合覆盖了</a:t>
            </a:r>
            <a:r>
              <a:rPr lang="en-US" altLang="zh-CN"/>
              <a:t>84.43%</a:t>
            </a:r>
            <a:r>
              <a:rPr lang="zh-CN" altLang="en-US"/>
              <a:t>的统计样本（长尾之长尾）</a:t>
            </a:r>
            <a:r>
              <a:rPr lang="en-US" altLang="zh-CN"/>
              <a:t>5</a:t>
            </a:r>
            <a:r>
              <a:rPr lang="zh-CN" altLang="en-US"/>
              <a:t>万</a:t>
            </a:r>
            <a:r>
              <a:rPr lang="en-US" altLang="zh-CN"/>
              <a:t>/473</a:t>
            </a:r>
            <a:r>
              <a:rPr lang="zh-CN" altLang="en-US"/>
              <a:t>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引出问题以及</a:t>
            </a:r>
            <a:r>
              <a:rPr lang="en-US" altLang="zh-CN"/>
              <a:t>benchmark，</a:t>
            </a:r>
            <a:r>
              <a:rPr lang="zh-CN" altLang="en-US"/>
              <a:t>对于出现和未出现过的双元组的两种</a:t>
            </a:r>
            <a:r>
              <a:rPr lang="zh-CN" altLang="en-US"/>
              <a:t>测评方法</a:t>
            </a:r>
            <a:endParaRPr lang="zh-CN" altLang="en-US"/>
          </a:p>
        </p:txBody>
      </p:sp>
      <p:pic>
        <p:nvPicPr>
          <p:cNvPr id="4" name="图片 3" descr="Figur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174115"/>
            <a:ext cx="8644890" cy="35902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数据集性质探究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4784090"/>
            <a:ext cx="10968990" cy="18135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a.</a:t>
            </a:r>
            <a:r>
              <a:rPr lang="zh-CN" altLang="en-US"/>
              <a:t>某一种无序</a:t>
            </a:r>
            <a:r>
              <a:rPr lang="en-US" altLang="zh-CN"/>
              <a:t>AB</a:t>
            </a:r>
            <a:r>
              <a:rPr lang="zh-CN" altLang="en-US"/>
              <a:t>最多对应</a:t>
            </a:r>
            <a:r>
              <a:rPr lang="en-US" altLang="zh-CN"/>
              <a:t>723</a:t>
            </a:r>
            <a:r>
              <a:rPr lang="zh-CN" altLang="en-US"/>
              <a:t>种不同</a:t>
            </a:r>
            <a:r>
              <a:rPr lang="en-US" altLang="zh-CN"/>
              <a:t>H</a:t>
            </a:r>
            <a:r>
              <a:rPr lang="zh-CN" altLang="en-US"/>
              <a:t>家族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b.</a:t>
            </a:r>
            <a:r>
              <a:rPr lang="zh-CN" altLang="en-US"/>
              <a:t>横轴</a:t>
            </a:r>
            <a:r>
              <a:rPr lang="en-US" altLang="zh-CN"/>
              <a:t>：AB</a:t>
            </a:r>
            <a:r>
              <a:rPr lang="zh-CN" altLang="en-US"/>
              <a:t>被观察的次数</a:t>
            </a:r>
            <a:r>
              <a:rPr lang="en-US" altLang="zh-CN"/>
              <a:t> </a:t>
            </a:r>
            <a:r>
              <a:rPr lang="zh-CN" altLang="en-US"/>
              <a:t>纵轴</a:t>
            </a:r>
            <a:r>
              <a:rPr lang="en-US" altLang="zh-CN"/>
              <a:t>：</a:t>
            </a:r>
            <a:r>
              <a:rPr lang="zh-CN" altLang="en-US"/>
              <a:t>最常见</a:t>
            </a:r>
            <a:r>
              <a:rPr lang="en-US" altLang="zh-CN"/>
              <a:t>C</a:t>
            </a:r>
            <a:r>
              <a:rPr lang="zh-CN" altLang="en-US"/>
              <a:t>的占比</a:t>
            </a:r>
            <a:r>
              <a:rPr lang="en-US" altLang="zh-CN"/>
              <a:t>  </a:t>
            </a:r>
            <a:r>
              <a:rPr lang="zh-CN" altLang="en-US"/>
              <a:t>颜色深浅</a:t>
            </a:r>
            <a:r>
              <a:rPr lang="en-US" altLang="zh-CN"/>
              <a:t>：AB</a:t>
            </a:r>
            <a:r>
              <a:rPr lang="zh-CN" altLang="en-US"/>
              <a:t>类型数量</a:t>
            </a:r>
            <a:r>
              <a:rPr lang="zh-CN" altLang="en-US"/>
              <a:t>多少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c.</a:t>
            </a:r>
            <a:r>
              <a:rPr lang="zh-CN" altLang="en-US"/>
              <a:t>横轴</a:t>
            </a:r>
            <a:r>
              <a:rPr lang="en-US" altLang="zh-CN"/>
              <a:t>：AB</a:t>
            </a:r>
            <a:r>
              <a:rPr lang="zh-CN" altLang="en-US"/>
              <a:t>被观察到的次数</a:t>
            </a:r>
            <a:r>
              <a:rPr lang="en-US" altLang="zh-CN"/>
              <a:t> </a:t>
            </a:r>
            <a:r>
              <a:rPr lang="zh-CN" altLang="en-US"/>
              <a:t>纵轴</a:t>
            </a:r>
            <a:r>
              <a:rPr lang="en-US" altLang="zh-CN"/>
              <a:t>：</a:t>
            </a:r>
            <a:r>
              <a:rPr lang="zh-CN" altLang="en-US"/>
              <a:t>有效多样性的中位数和四分位区间</a:t>
            </a:r>
            <a:r>
              <a:rPr lang="en-US" altLang="zh-CN"/>
              <a:t>，</a:t>
            </a:r>
            <a:r>
              <a:rPr lang="zh-CN" altLang="en-US"/>
              <a:t>中位数在</a:t>
            </a:r>
            <a:r>
              <a:rPr lang="en-US" altLang="zh-CN"/>
              <a:t>1-1.6，</a:t>
            </a:r>
            <a:r>
              <a:rPr lang="zh-CN" altLang="en-US"/>
              <a:t>说明第三域共现聚集于少数家族</a:t>
            </a:r>
            <a:endParaRPr lang="en-US" altLang="zh-CN"/>
          </a:p>
        </p:txBody>
      </p:sp>
      <p:pic>
        <p:nvPicPr>
          <p:cNvPr id="4" name="图片 3" descr="Figur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91895"/>
            <a:ext cx="8350885" cy="34683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187180" y="1532255"/>
            <a:ext cx="2390775" cy="4603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共</a:t>
            </a:r>
            <a:r>
              <a:rPr lang="en-US" altLang="zh-CN"/>
              <a:t>53381</a:t>
            </a:r>
            <a:r>
              <a:rPr lang="zh-CN" altLang="en-US"/>
              <a:t>种无序三元组合</a:t>
            </a:r>
            <a:r>
              <a:rPr lang="en-US" altLang="zh-CN"/>
              <a:t>，56546</a:t>
            </a:r>
            <a:r>
              <a:rPr lang="zh-CN" altLang="en-US"/>
              <a:t>种双元输入对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仅有</a:t>
            </a:r>
            <a:r>
              <a:rPr lang="en-US" altLang="zh-CN"/>
              <a:t>1</a:t>
            </a:r>
            <a:r>
              <a:rPr lang="zh-CN" altLang="en-US"/>
              <a:t>种</a:t>
            </a:r>
            <a:r>
              <a:rPr lang="en-US" altLang="zh-CN"/>
              <a:t>C</a:t>
            </a:r>
            <a:r>
              <a:rPr lang="zh-CN" altLang="en-US"/>
              <a:t>的</a:t>
            </a:r>
            <a:r>
              <a:rPr lang="en-US" altLang="zh-CN"/>
              <a:t>AB</a:t>
            </a:r>
            <a:r>
              <a:rPr lang="zh-CN" altLang="en-US"/>
              <a:t>类型一共</a:t>
            </a:r>
            <a:r>
              <a:rPr lang="en-US" altLang="zh-CN"/>
              <a:t>38390</a:t>
            </a:r>
            <a:r>
              <a:rPr lang="zh-CN" altLang="en-US"/>
              <a:t>种</a:t>
            </a:r>
            <a:r>
              <a:rPr lang="en-US" altLang="zh-CN"/>
              <a:t>，</a:t>
            </a:r>
            <a:r>
              <a:rPr lang="zh-CN" altLang="en-US"/>
              <a:t>占据</a:t>
            </a:r>
            <a:r>
              <a:rPr lang="en-US" altLang="zh-CN"/>
              <a:t>67.89%，</a:t>
            </a:r>
            <a:r>
              <a:rPr lang="zh-CN" altLang="en-US"/>
              <a:t>少数</a:t>
            </a:r>
            <a:r>
              <a:rPr lang="en-US" altLang="zh-CN"/>
              <a:t>AB</a:t>
            </a:r>
            <a:r>
              <a:rPr lang="zh-CN" altLang="en-US"/>
              <a:t>具有丰富的第三域组合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7" name="图片 6" descr="QQ_17924727089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310" y="504190"/>
            <a:ext cx="6191250" cy="8096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种</a:t>
            </a:r>
            <a:r>
              <a:rPr lang="en-US" altLang="zh-CN">
                <a:sym typeface="+mn-ea"/>
              </a:rPr>
              <a:t>Training-free</a:t>
            </a:r>
            <a:r>
              <a:rPr lang="zh-CN" altLang="en-US">
                <a:sym typeface="+mn-ea"/>
              </a:rPr>
              <a:t>方法的</a:t>
            </a:r>
            <a:r>
              <a:rPr lang="en-US" altLang="zh-CN">
                <a:sym typeface="+mn-ea"/>
              </a:rPr>
              <a:t>benchmark</a:t>
            </a:r>
            <a:r>
              <a:rPr lang="zh-CN" altLang="en-US">
                <a:sym typeface="+mn-ea"/>
              </a:rPr>
              <a:t>建立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510905" y="1314450"/>
            <a:ext cx="3066415" cy="4935220"/>
          </a:xfrm>
        </p:spPr>
        <p:txBody>
          <a:bodyPr/>
          <a:p>
            <a:pPr marL="0" indent="0">
              <a:buNone/>
            </a:pPr>
            <a:r>
              <a:rPr lang="zh-CN" altLang="en-US"/>
              <a:t>这里分别展示了</a:t>
            </a:r>
            <a:r>
              <a:rPr lang="en-US" altLang="zh-CN"/>
              <a:t>2</a:t>
            </a:r>
            <a:r>
              <a:rPr lang="zh-CN" altLang="en-US"/>
              <a:t>种无需训练的方法。本次实验仅仅涉及</a:t>
            </a:r>
            <a:r>
              <a:rPr lang="en-US" altLang="zh-CN"/>
              <a:t>AB</a:t>
            </a:r>
            <a:r>
              <a:rPr lang="zh-CN" altLang="en-US"/>
              <a:t>搜索</a:t>
            </a:r>
            <a:r>
              <a:rPr lang="en-US" altLang="zh-CN"/>
              <a:t>C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需要说明的是</a:t>
            </a:r>
            <a:r>
              <a:rPr lang="en-US" altLang="zh-CN"/>
              <a:t>，</a:t>
            </a:r>
            <a:r>
              <a:rPr lang="zh-CN" altLang="en-US"/>
              <a:t>直接加和双向量做归一化和分别打分做相加在排名上是一致的</a:t>
            </a:r>
            <a:r>
              <a:rPr lang="en-US" altLang="zh-CN"/>
              <a:t>，</a:t>
            </a:r>
            <a:r>
              <a:rPr lang="zh-CN" altLang="en-US"/>
              <a:t>可从数学上</a:t>
            </a:r>
            <a:r>
              <a:rPr lang="zh-CN" altLang="en-US"/>
              <a:t>证明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针对前面涉及的双元组稀疏化的问题</a:t>
            </a:r>
            <a:r>
              <a:rPr lang="en-US" altLang="zh-CN"/>
              <a:t>，</a:t>
            </a:r>
            <a:r>
              <a:rPr lang="zh-CN" altLang="en-US"/>
              <a:t>提出了两种任务</a:t>
            </a:r>
            <a:r>
              <a:rPr lang="en-US" altLang="zh-CN"/>
              <a:t>，</a:t>
            </a:r>
            <a:r>
              <a:rPr lang="zh-CN" altLang="en-US"/>
              <a:t>共现过的对应搜索</a:t>
            </a:r>
            <a:r>
              <a:rPr lang="en-US" altLang="zh-CN"/>
              <a:t>(CATH)，</a:t>
            </a:r>
            <a:r>
              <a:rPr lang="zh-CN" altLang="en-US"/>
              <a:t>没有共现过的对应生成</a:t>
            </a:r>
            <a:r>
              <a:rPr lang="en-US" altLang="zh-CN"/>
              <a:t>(AlphaFold)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5" name="图片 4" descr="实验设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313815"/>
            <a:ext cx="7901940" cy="51841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针对搜索任务的</a:t>
            </a:r>
            <a:r>
              <a:rPr lang="en-US" altLang="zh-CN"/>
              <a:t>2</a:t>
            </a:r>
            <a:r>
              <a:rPr lang="zh-CN" altLang="en-US"/>
              <a:t>种</a:t>
            </a:r>
            <a:r>
              <a:rPr lang="en-US" altLang="zh-CN">
                <a:sym typeface="+mn-ea"/>
              </a:rPr>
              <a:t>Training-free</a:t>
            </a:r>
            <a:r>
              <a:rPr lang="zh-CN" altLang="en-US"/>
              <a:t>方法结果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305675" y="1313815"/>
            <a:ext cx="4375785" cy="5335905"/>
          </a:xfrm>
        </p:spPr>
        <p:txBody>
          <a:bodyPr/>
          <a:p>
            <a:pPr marL="0" indent="0">
              <a:buNone/>
            </a:pPr>
            <a:r>
              <a:rPr lang="zh-CN" altLang="en-US"/>
              <a:t>数据集筛选条件</a:t>
            </a:r>
            <a:r>
              <a:rPr lang="en-US" altLang="zh-CN"/>
              <a:t>：</a:t>
            </a:r>
            <a:r>
              <a:rPr lang="zh-CN" altLang="en-US"/>
              <a:t>有且仅由三个结构域构成</a:t>
            </a:r>
            <a:r>
              <a:rPr lang="en-US" altLang="zh-CN"/>
              <a:t>，</a:t>
            </a:r>
            <a:r>
              <a:rPr lang="zh-CN" altLang="en-US"/>
              <a:t>有完整</a:t>
            </a:r>
            <a:r>
              <a:rPr lang="en-US" altLang="zh-CN"/>
              <a:t>CATH</a:t>
            </a:r>
            <a:r>
              <a:rPr lang="zh-CN" altLang="en-US"/>
              <a:t>的标签</a:t>
            </a:r>
            <a:r>
              <a:rPr lang="en-US" altLang="zh-CN"/>
              <a:t>，</a:t>
            </a:r>
            <a:r>
              <a:rPr lang="zh-CN" altLang="en-US"/>
              <a:t>均为连续域</a:t>
            </a:r>
            <a:r>
              <a:rPr lang="en-US" altLang="zh-CN"/>
              <a:t>，H</a:t>
            </a:r>
            <a:r>
              <a:rPr lang="zh-CN" altLang="en-US"/>
              <a:t>家族两两不同</a:t>
            </a:r>
            <a:r>
              <a:rPr lang="en-US" altLang="zh-CN"/>
              <a:t>，AB support ≧100，</a:t>
            </a:r>
            <a:r>
              <a:rPr lang="zh-CN" altLang="en-US"/>
              <a:t>有完整的可用序列以及不含</a:t>
            </a:r>
            <a:r>
              <a:rPr lang="en-US" altLang="zh-CN"/>
              <a:t>unk</a:t>
            </a:r>
            <a:r>
              <a:rPr lang="zh-CN" altLang="en-US"/>
              <a:t>的</a:t>
            </a:r>
            <a:r>
              <a:rPr lang="en-US" altLang="zh-CN"/>
              <a:t>Saprot</a:t>
            </a:r>
            <a:r>
              <a:rPr lang="zh-CN" altLang="en-US"/>
              <a:t>记录</a:t>
            </a:r>
            <a:r>
              <a:rPr lang="en-US" altLang="zh-CN"/>
              <a:t>，AB</a:t>
            </a:r>
            <a:r>
              <a:rPr lang="zh-CN" altLang="en-US"/>
              <a:t>家族</a:t>
            </a:r>
            <a:r>
              <a:rPr lang="zh-CN" altLang="en-US"/>
              <a:t>唯一性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本次最重要的发现</a:t>
            </a:r>
            <a:r>
              <a:rPr lang="en-US" altLang="zh-CN"/>
              <a:t>：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复杂的生成式融合方法并未在当前的检索任务中带来性能收益</a:t>
            </a:r>
            <a:r>
              <a:rPr lang="en-US" altLang="zh-CN"/>
              <a:t>，</a:t>
            </a:r>
            <a:r>
              <a:rPr lang="zh-CN" altLang="en-US"/>
              <a:t>反而明显落后于简单的</a:t>
            </a:r>
            <a:r>
              <a:rPr lang="en-US" altLang="zh-CN"/>
              <a:t>Embedding</a:t>
            </a:r>
            <a:r>
              <a:rPr lang="zh-CN" altLang="en-US"/>
              <a:t>平均。至少在相对“简单”的数据集上如此，因此有理由把简单的</a:t>
            </a:r>
            <a:r>
              <a:rPr lang="en-US" altLang="zh-CN"/>
              <a:t>Embedding</a:t>
            </a:r>
            <a:r>
              <a:rPr lang="zh-CN" altLang="en-US"/>
              <a:t>平均作为强</a:t>
            </a:r>
            <a:r>
              <a:rPr lang="en-US" altLang="zh-CN"/>
              <a:t>Baseline</a:t>
            </a:r>
            <a:endParaRPr lang="en-US" altLang="zh-CN"/>
          </a:p>
        </p:txBody>
      </p:sp>
      <p:pic>
        <p:nvPicPr>
          <p:cNvPr id="4" name="图片 3" descr="benchmark_heatmap_2x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490345"/>
            <a:ext cx="6478270" cy="44640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局限性</a:t>
            </a:r>
            <a:r>
              <a:rPr lang="en-US" altLang="zh-CN"/>
              <a:t>，</a:t>
            </a:r>
            <a:r>
              <a:rPr lang="zh-CN" altLang="en-US"/>
              <a:t>可扩展</a:t>
            </a:r>
            <a:r>
              <a:rPr lang="zh-CN" altLang="en-US"/>
              <a:t>方向以及后续</a:t>
            </a:r>
            <a:r>
              <a:rPr lang="zh-CN" altLang="en-US"/>
              <a:t>计划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177790"/>
          </a:xfrm>
        </p:spPr>
        <p:txBody>
          <a:bodyPr/>
          <a:p>
            <a:r>
              <a:rPr lang="zh-CN" altLang="en-US" sz="2800"/>
              <a:t>局限性</a:t>
            </a:r>
            <a:r>
              <a:rPr lang="en-US" altLang="zh-CN" sz="2800"/>
              <a:t>：</a:t>
            </a:r>
            <a:r>
              <a:rPr lang="zh-CN" altLang="en-US" sz="2800"/>
              <a:t>数据规模有限</a:t>
            </a:r>
            <a:r>
              <a:rPr lang="en-US" altLang="zh-CN" sz="2800"/>
              <a:t>(1000</a:t>
            </a:r>
            <a:r>
              <a:rPr lang="zh-CN" altLang="en-US" sz="2800"/>
              <a:t>条</a:t>
            </a:r>
            <a:r>
              <a:rPr lang="en-US" altLang="zh-CN" sz="2800"/>
              <a:t>)，</a:t>
            </a:r>
            <a:r>
              <a:rPr lang="zh-CN" altLang="en-US" sz="2800"/>
              <a:t>任务形式单一</a:t>
            </a:r>
            <a:r>
              <a:rPr lang="en-US" altLang="zh-CN" sz="2800"/>
              <a:t>，</a:t>
            </a:r>
            <a:r>
              <a:rPr lang="zh-CN" altLang="en-US" sz="2800"/>
              <a:t>筛选偏置</a:t>
            </a:r>
            <a:r>
              <a:rPr lang="en-US" altLang="zh-CN" sz="2800"/>
              <a:t>，</a:t>
            </a:r>
            <a:r>
              <a:rPr lang="zh-CN" altLang="en-US" sz="2800"/>
              <a:t>泛化性尚未</a:t>
            </a:r>
            <a:r>
              <a:rPr lang="zh-CN" altLang="en-US" sz="2800"/>
              <a:t>验证</a:t>
            </a:r>
            <a:endParaRPr lang="zh-CN" altLang="en-US" sz="2800"/>
          </a:p>
          <a:p>
            <a:r>
              <a:rPr lang="zh-CN" altLang="en-US" sz="2800"/>
              <a:t>可扩展方向</a:t>
            </a:r>
            <a:r>
              <a:rPr lang="en-US" altLang="zh-CN" sz="2800"/>
              <a:t>：</a:t>
            </a:r>
            <a:r>
              <a:rPr lang="zh-CN" altLang="en-US" sz="2800"/>
              <a:t>任务扩展</a:t>
            </a:r>
            <a:r>
              <a:rPr lang="en-US" altLang="zh-CN" sz="2800"/>
              <a:t>，</a:t>
            </a:r>
            <a:r>
              <a:rPr lang="zh-CN" altLang="en-US" sz="2800"/>
              <a:t>数据扩展</a:t>
            </a:r>
            <a:r>
              <a:rPr lang="en-US" altLang="zh-CN" sz="2800"/>
              <a:t>，</a:t>
            </a:r>
            <a:r>
              <a:rPr lang="zh-CN" altLang="en-US" sz="2800"/>
              <a:t>评估扩展甚至结构域</a:t>
            </a:r>
            <a:r>
              <a:rPr lang="zh-CN" altLang="en-US" sz="2800"/>
              <a:t>数量</a:t>
            </a:r>
            <a:endParaRPr lang="zh-CN" altLang="en-US" sz="2800"/>
          </a:p>
          <a:p>
            <a:r>
              <a:rPr lang="zh-CN" altLang="en-US" sz="2800"/>
              <a:t>后续计划</a:t>
            </a:r>
            <a:r>
              <a:rPr lang="en-US" altLang="zh-CN" sz="2800"/>
              <a:t>：</a:t>
            </a:r>
            <a:endParaRPr lang="en-US" altLang="zh-CN" sz="2800"/>
          </a:p>
          <a:p>
            <a:pPr marL="0" indent="0">
              <a:buNone/>
            </a:pPr>
            <a:r>
              <a:rPr lang="en-US" altLang="zh-CN" sz="2800"/>
              <a:t>  Training free：</a:t>
            </a:r>
            <a:r>
              <a:rPr lang="zh-CN" altLang="en-US" sz="2800"/>
              <a:t>完善</a:t>
            </a:r>
            <a:r>
              <a:rPr lang="en-US" altLang="zh-CN" sz="2800"/>
              <a:t>Benchmark</a:t>
            </a:r>
            <a:r>
              <a:rPr lang="zh-CN" altLang="en-US" sz="2800"/>
              <a:t>与</a:t>
            </a:r>
            <a:r>
              <a:rPr lang="en-US" altLang="zh-CN" sz="2800"/>
              <a:t>AlphaFold</a:t>
            </a:r>
            <a:r>
              <a:rPr lang="zh-CN" altLang="en-US" sz="2800"/>
              <a:t>结构</a:t>
            </a:r>
            <a:r>
              <a:rPr lang="zh-CN" altLang="en-US" sz="2800"/>
              <a:t>验证</a:t>
            </a:r>
            <a:endParaRPr lang="zh-CN" altLang="en-US" sz="2800"/>
          </a:p>
          <a:p>
            <a:pPr marL="0" indent="0">
              <a:buNone/>
            </a:pPr>
            <a:r>
              <a:rPr lang="en-US" altLang="zh-CN" sz="2800"/>
              <a:t>  Training：</a:t>
            </a:r>
            <a:r>
              <a:rPr lang="zh-CN" altLang="en-US" sz="2800"/>
              <a:t>开始学习模型训练并尝试小参数模型的</a:t>
            </a:r>
            <a:r>
              <a:rPr lang="zh-CN" altLang="en-US" sz="2800"/>
              <a:t>训练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如果要做训练</a:t>
            </a:r>
            <a:r>
              <a:rPr lang="en-US" altLang="zh-CN" sz="2800"/>
              <a:t>，</a:t>
            </a:r>
            <a:r>
              <a:rPr lang="zh-CN" altLang="en-US" sz="2800"/>
              <a:t>其应该在</a:t>
            </a:r>
            <a:r>
              <a:rPr lang="en-US" altLang="zh-CN" sz="2800"/>
              <a:t>Benchmark</a:t>
            </a:r>
            <a:r>
              <a:rPr lang="zh-CN" altLang="en-US" sz="2800"/>
              <a:t>上面对</a:t>
            </a:r>
            <a:r>
              <a:rPr lang="en-US" altLang="zh-CN" sz="2800"/>
              <a:t>Training-free</a:t>
            </a:r>
            <a:r>
              <a:rPr lang="zh-CN" altLang="en-US" sz="2800"/>
              <a:t>的</a:t>
            </a:r>
            <a:r>
              <a:rPr lang="en-US" altLang="zh-CN" sz="2800"/>
              <a:t>Additive Embedding</a:t>
            </a:r>
            <a:r>
              <a:rPr lang="zh-CN" altLang="en-US" sz="2800"/>
              <a:t>方法有显著的</a:t>
            </a:r>
            <a:r>
              <a:rPr lang="zh-CN" altLang="en-US" sz="2800"/>
              <a:t>优势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WPS 演示</Application>
  <PresentationFormat>宽屏</PresentationFormat>
  <Paragraphs>74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PingFang SC Regular</vt:lpstr>
      <vt:lpstr>WPS</vt:lpstr>
      <vt:lpstr>三结构域数据探究以及2种Training-free方法的benchmark建立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DARK MATER</cp:lastModifiedBy>
  <cp:revision>218</cp:revision>
  <dcterms:created xsi:type="dcterms:W3CDTF">2026-10-20T06:38:43Z</dcterms:created>
  <dcterms:modified xsi:type="dcterms:W3CDTF">2026-10-20T06:38:43Z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150F1B6D7DD54815A9C9D56A25CC4E86_41</vt:lpwstr>
  </property>
</Properties>
</file>